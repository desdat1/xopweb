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14116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FCB0-19C3-0A2F-D249-9C4368306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D52B2-ACD3-4BB6-F22D-7C63B8D08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F08F-6BBC-FC3B-AAAC-8C97EC5A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18328-4371-541F-274E-59213E87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C9A2F-A4A3-F620-EBBB-5E41F843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8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4F1D-E0EA-B37F-1D9E-D9EC626F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1293-418D-A05C-718D-4C2F0BF4B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8950-945B-B479-3B66-15111514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A2AD4-F69D-61E8-AD38-7490E6AE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EEB21-E1D5-42DC-081E-1B39EADE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4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4E12-3030-D55E-1BB4-E29B89E0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C86F2-30B0-8992-8359-04ABDB0A7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F0AD-256D-DA3E-0E2D-D0429AF4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207E5-B999-D138-BF3C-CD32DEA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32921-DC73-7966-9FED-6C75D36E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6EA2-AADF-082A-FCC4-33E5FED5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E58D-7A92-AA72-215A-CC770AE9C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37C18-637B-1629-90B2-9B91D1937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7A700-5046-42FD-46AE-9B1D26F5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3B86A-403E-BA8F-12F4-87982EC7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D1A07-4284-978B-7BCA-8F35C9EA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7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C45-C6D4-743D-4468-4EAE85CC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885E3-64D6-4DFA-EE5A-7154C9B3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6659-3205-FB08-0989-429866DF6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C32BC-EDC2-54BB-ED6E-01D1B07A0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57967-B0E3-14C9-E8E4-730C7B479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67947-27BC-5C3D-BF45-BC4ADCBD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1C4D9C-FE30-6EAE-831E-1621B516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B97BE-3097-9333-001E-8032FEF9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2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6099-EC2C-474D-E07B-0C38FFF0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B6337-8BEC-5CE5-9F51-F3222087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FA95A-4B18-02B7-D82A-D7EA2F1D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FA7D7-6C0C-A6A3-9D89-CD88D748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8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E050C-82CF-F70D-C11E-FB837C64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411C4-0144-2950-9EB4-390B0142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2AAFB-540B-698C-99CC-5E7AF247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3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16E6-A397-97BB-8BA4-2A5088E4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526D-57CD-A39F-7DDA-56E38066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80336-8F33-228C-FCF5-B11384AF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58436-0BCF-DCEA-DD26-B752A9AD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E981E-E56B-23B9-3D94-098165D1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D6BF-8E06-CD27-840A-88AD5A32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14DC-612B-D12C-D612-8A8B3EFC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EEA21-2959-B0F2-6977-EFA834A89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017EE-01A2-72FE-5187-EF68DAD58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3F5DD-B1B7-DAF7-FC85-5E487BA7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4343-46CF-4737-2DD8-F02ED0B5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C52B4-ADB8-F26A-070B-6A8172E2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7D21-3D7A-D7BE-1F32-6D04EC6B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64358-995F-4A06-A855-9753F13F9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EFCDD-D48E-B3DC-6264-4668EBBA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9CF37-6B20-AB24-C192-8AF636AA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053B-D4F0-AAFE-07A7-B2800608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8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EB506-6A63-96A4-11CE-D174F54FB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82BBC-42F4-E490-FA3F-0AB6E8C5C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C528E-A0F6-F263-42D0-AC3F618C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0C1D-1509-9DB8-96EE-CA403057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51E6C-8687-B332-ABFD-3AC130B9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78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800100" y="690880"/>
            <a:ext cx="4345471" cy="54962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708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ABE3E5-C708-5CE6-7E99-4A8EFD4E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6290C-2E93-A899-EA68-F85BD543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36480-314C-8058-FB74-82E2CDECE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94A75-0892-49C4-877D-1F5D7402E59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5A721-D38B-D637-6654-3D92DBC53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AAE3A-F616-4CB2-98EB-102C8BE67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B4C62-6CC8-42BD-B7CA-3C2B2D9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6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DA20-9618-A1B4-21ED-C6E49353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61">
            <a:extLst>
              <a:ext uri="{FF2B5EF4-FFF2-40B4-BE49-F238E27FC236}">
                <a16:creationId xmlns:a16="http://schemas.microsoft.com/office/drawing/2014/main" id="{1AB4E2BE-8D9C-B40C-DEEE-E63E2648602B}"/>
              </a:ext>
            </a:extLst>
          </p:cNvPr>
          <p:cNvSpPr/>
          <p:nvPr/>
        </p:nvSpPr>
        <p:spPr>
          <a:xfrm rot="10800000">
            <a:off x="-2628" y="1"/>
            <a:ext cx="12197257" cy="144001"/>
          </a:xfrm>
          <a:prstGeom prst="rect">
            <a:avLst/>
          </a:prstGeom>
          <a:solidFill>
            <a:srgbClr val="ED347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" name="Rectangle 104">
            <a:extLst>
              <a:ext uri="{FF2B5EF4-FFF2-40B4-BE49-F238E27FC236}">
                <a16:creationId xmlns:a16="http://schemas.microsoft.com/office/drawing/2014/main" id="{6E291DC9-7697-97B8-B31F-89FEC3B769E1}"/>
              </a:ext>
            </a:extLst>
          </p:cNvPr>
          <p:cNvSpPr/>
          <p:nvPr/>
        </p:nvSpPr>
        <p:spPr>
          <a:xfrm rot="10800000">
            <a:off x="-2628" y="6589814"/>
            <a:ext cx="9784067" cy="283683"/>
          </a:xfrm>
          <a:prstGeom prst="rect">
            <a:avLst/>
          </a:prstGeom>
          <a:gradFill>
            <a:gsLst>
              <a:gs pos="23000">
                <a:srgbClr val="4D4DFF"/>
              </a:gs>
              <a:gs pos="100000">
                <a:srgbClr val="FEDE00"/>
              </a:gs>
            </a:gsLst>
            <a:lin ang="9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C689BA-6358-4845-75F7-7A21671FD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164" y="5950896"/>
            <a:ext cx="1549590" cy="930532"/>
          </a:xfrm>
          <a:prstGeom prst="rect">
            <a:avLst/>
          </a:prstGeom>
        </p:spPr>
      </p:pic>
      <p:grpSp>
        <p:nvGrpSpPr>
          <p:cNvPr id="3" name="Speech Bubble: Rectangle with Corners Rounded 91">
            <a:extLst>
              <a:ext uri="{FF2B5EF4-FFF2-40B4-BE49-F238E27FC236}">
                <a16:creationId xmlns:a16="http://schemas.microsoft.com/office/drawing/2014/main" id="{A7A740E0-2FAE-C74E-A32B-EDEBA6E5D31B}"/>
              </a:ext>
            </a:extLst>
          </p:cNvPr>
          <p:cNvGrpSpPr/>
          <p:nvPr/>
        </p:nvGrpSpPr>
        <p:grpSpPr>
          <a:xfrm>
            <a:off x="312579" y="1257864"/>
            <a:ext cx="2168394" cy="351641"/>
            <a:chOff x="-1" y="0"/>
            <a:chExt cx="1440003" cy="288002"/>
          </a:xfrm>
        </p:grpSpPr>
        <p:sp>
          <p:nvSpPr>
            <p:cNvPr id="4" name="Rounded Rectangle">
              <a:extLst>
                <a:ext uri="{FF2B5EF4-FFF2-40B4-BE49-F238E27FC236}">
                  <a16:creationId xmlns:a16="http://schemas.microsoft.com/office/drawing/2014/main" id="{25E36891-A6E4-2D95-FF45-9BD2521E75ED}"/>
                </a:ext>
              </a:extLst>
            </p:cNvPr>
            <p:cNvSpPr/>
            <p:nvPr/>
          </p:nvSpPr>
          <p:spPr>
            <a:xfrm>
              <a:off x="-1" y="0"/>
              <a:ext cx="1440003" cy="288002"/>
            </a:xfrm>
            <a:prstGeom prst="roundRect">
              <a:avLst>
                <a:gd name="adj" fmla="val 50000"/>
              </a:avLst>
            </a:prstGeom>
            <a:solidFill>
              <a:srgbClr val="359D9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" name="Employees">
              <a:extLst>
                <a:ext uri="{FF2B5EF4-FFF2-40B4-BE49-F238E27FC236}">
                  <a16:creationId xmlns:a16="http://schemas.microsoft.com/office/drawing/2014/main" id="{DDA02E30-ABA5-C782-4BF0-828942475F95}"/>
                </a:ext>
              </a:extLst>
            </p:cNvPr>
            <p:cNvSpPr txBox="1"/>
            <p:nvPr/>
          </p:nvSpPr>
          <p:spPr>
            <a:xfrm>
              <a:off x="-1" y="68377"/>
              <a:ext cx="1355652" cy="151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pPr>
              <a:r>
                <a:rPr lang="en-US" sz="1200" dirty="0"/>
                <a:t>Your Clients &amp; Staff</a:t>
              </a:r>
              <a:endParaRPr sz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854241F-FFB3-15C4-E884-FD92BD2CC443}"/>
              </a:ext>
            </a:extLst>
          </p:cNvPr>
          <p:cNvGrpSpPr/>
          <p:nvPr/>
        </p:nvGrpSpPr>
        <p:grpSpPr>
          <a:xfrm>
            <a:off x="360914" y="2035694"/>
            <a:ext cx="1917766" cy="3809892"/>
            <a:chOff x="360914" y="2035694"/>
            <a:chExt cx="1917766" cy="3809892"/>
          </a:xfrm>
        </p:grpSpPr>
        <p:grpSp>
          <p:nvGrpSpPr>
            <p:cNvPr id="8" name="Rectangle: Rounded Corners 1">
              <a:extLst>
                <a:ext uri="{FF2B5EF4-FFF2-40B4-BE49-F238E27FC236}">
                  <a16:creationId xmlns:a16="http://schemas.microsoft.com/office/drawing/2014/main" id="{E2D3A3E1-16B2-226F-720D-5F189169AD04}"/>
                </a:ext>
              </a:extLst>
            </p:cNvPr>
            <p:cNvGrpSpPr/>
            <p:nvPr/>
          </p:nvGrpSpPr>
          <p:grpSpPr>
            <a:xfrm>
              <a:off x="369498" y="2035694"/>
              <a:ext cx="1909182" cy="1041708"/>
              <a:chOff x="17798" y="75797"/>
              <a:chExt cx="2160003" cy="1152002"/>
            </a:xfrm>
          </p:grpSpPr>
          <p:sp>
            <p:nvSpPr>
              <p:cNvPr id="16" name="Rounded Rectangle">
                <a:extLst>
                  <a:ext uri="{FF2B5EF4-FFF2-40B4-BE49-F238E27FC236}">
                    <a16:creationId xmlns:a16="http://schemas.microsoft.com/office/drawing/2014/main" id="{1F8502B1-AF8C-F211-012C-92B94E915E01}"/>
                  </a:ext>
                </a:extLst>
              </p:cNvPr>
              <p:cNvSpPr/>
              <p:nvPr/>
            </p:nvSpPr>
            <p:spPr>
              <a:xfrm>
                <a:off x="17798" y="75797"/>
                <a:ext cx="2160003" cy="1152002"/>
              </a:xfrm>
              <a:prstGeom prst="roundRect">
                <a:avLst>
                  <a:gd name="adj" fmla="val 12300"/>
                </a:avLst>
              </a:prstGeom>
              <a:solidFill>
                <a:srgbClr val="92D050"/>
              </a:solidFill>
              <a:ln w="12700" cap="flat">
                <a:solidFill>
                  <a:srgbClr val="FEDE00"/>
                </a:solidFill>
                <a:prstDash val="dash"/>
                <a:round/>
              </a:ln>
              <a:effectLst>
                <a:outerShdw blurRad="177800" rotWithShape="0">
                  <a:srgbClr val="172B4D">
                    <a:alpha val="19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sz="1100"/>
              </a:p>
            </p:txBody>
          </p:sp>
          <p:sp>
            <p:nvSpPr>
              <p:cNvPr id="17" name="Agentic Sidekick 3.0…">
                <a:extLst>
                  <a:ext uri="{FF2B5EF4-FFF2-40B4-BE49-F238E27FC236}">
                    <a16:creationId xmlns:a16="http://schemas.microsoft.com/office/drawing/2014/main" id="{2CA8B010-71AA-5340-ADCE-933B78889168}"/>
                  </a:ext>
                </a:extLst>
              </p:cNvPr>
              <p:cNvSpPr txBox="1"/>
              <p:nvPr/>
            </p:nvSpPr>
            <p:spPr>
              <a:xfrm>
                <a:off x="39267" y="328804"/>
                <a:ext cx="2064302" cy="7487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>
                  <a:defRPr sz="1200">
                    <a:solidFill>
                      <a:srgbClr val="031F49"/>
                    </a:solidFill>
                    <a:latin typeface="Poppins Bold"/>
                    <a:ea typeface="Poppins Bold"/>
                    <a:cs typeface="Poppins Bold"/>
                    <a:sym typeface="Poppins Bold"/>
                  </a:defRPr>
                </a:pPr>
                <a:r>
                  <a:rPr lang="en-US" sz="1100" dirty="0"/>
                  <a:t>Teams Chatbot</a:t>
                </a:r>
              </a:p>
              <a:p>
                <a:pPr algn="ctr">
                  <a:defRPr sz="1200">
                    <a:solidFill>
                      <a:srgbClr val="031F49"/>
                    </a:solidFill>
                    <a:latin typeface="Poppins Bold"/>
                    <a:ea typeface="Poppins Bold"/>
                    <a:cs typeface="Poppins Bold"/>
                    <a:sym typeface="Poppins Bold"/>
                  </a:defRPr>
                </a:pPr>
                <a:endParaRPr lang="en-US" sz="1100" dirty="0">
                  <a:latin typeface="Poppins Regular" panose="00000500000000000000" pitchFamily="2" charset="0"/>
                  <a:cs typeface="Poppins Regular" panose="00000500000000000000" pitchFamily="2" charset="0"/>
                </a:endParaRPr>
              </a:p>
              <a:p>
                <a:pPr algn="ctr">
                  <a:defRPr sz="1200">
                    <a:solidFill>
                      <a:srgbClr val="031F49"/>
                    </a:solidFill>
                    <a:latin typeface="Poppins Bold"/>
                    <a:ea typeface="Poppins Bold"/>
                    <a:cs typeface="Poppins Bold"/>
                    <a:sym typeface="Poppins Bold"/>
                  </a:defRPr>
                </a:pPr>
                <a:r>
                  <a:rPr lang="en-US" sz="1100" dirty="0">
                    <a:latin typeface="Poppins Regular" panose="00000500000000000000" pitchFamily="2" charset="0"/>
                    <a:cs typeface="Poppins Regular" panose="00000500000000000000" pitchFamily="2" charset="0"/>
                  </a:rPr>
                  <a:t>MSP branded Teams Chatbot PSA integrated</a:t>
                </a:r>
              </a:p>
            </p:txBody>
          </p:sp>
        </p:grpSp>
        <p:grpSp>
          <p:nvGrpSpPr>
            <p:cNvPr id="9" name="Rectangle: Rounded Corners 10">
              <a:extLst>
                <a:ext uri="{FF2B5EF4-FFF2-40B4-BE49-F238E27FC236}">
                  <a16:creationId xmlns:a16="http://schemas.microsoft.com/office/drawing/2014/main" id="{2BAD864C-DA9A-C3AE-7653-85665B1F241D}"/>
                </a:ext>
              </a:extLst>
            </p:cNvPr>
            <p:cNvGrpSpPr/>
            <p:nvPr/>
          </p:nvGrpSpPr>
          <p:grpSpPr>
            <a:xfrm>
              <a:off x="369498" y="3424681"/>
              <a:ext cx="1909182" cy="1041709"/>
              <a:chOff x="0" y="0"/>
              <a:chExt cx="2160003" cy="1152003"/>
            </a:xfrm>
          </p:grpSpPr>
          <p:sp>
            <p:nvSpPr>
              <p:cNvPr id="14" name="Rounded Rectangle">
                <a:extLst>
                  <a:ext uri="{FF2B5EF4-FFF2-40B4-BE49-F238E27FC236}">
                    <a16:creationId xmlns:a16="http://schemas.microsoft.com/office/drawing/2014/main" id="{2BCE2B90-51F0-D579-DC7A-02A2CE04D5B1}"/>
                  </a:ext>
                </a:extLst>
              </p:cNvPr>
              <p:cNvSpPr/>
              <p:nvPr/>
            </p:nvSpPr>
            <p:spPr>
              <a:xfrm>
                <a:off x="0" y="0"/>
                <a:ext cx="2160003" cy="1152003"/>
              </a:xfrm>
              <a:prstGeom prst="roundRect">
                <a:avLst>
                  <a:gd name="adj" fmla="val 12300"/>
                </a:avLst>
              </a:prstGeom>
              <a:solidFill>
                <a:srgbClr val="92D050"/>
              </a:solidFill>
              <a:ln w="12700" cap="flat">
                <a:solidFill>
                  <a:srgbClr val="FEDE00"/>
                </a:solidFill>
                <a:prstDash val="dash"/>
                <a:round/>
              </a:ln>
              <a:effectLst>
                <a:outerShdw blurRad="177800" rotWithShape="0">
                  <a:srgbClr val="172B4D">
                    <a:alpha val="19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sz="1100"/>
              </a:p>
            </p:txBody>
          </p:sp>
          <p:sp>
            <p:nvSpPr>
              <p:cNvPr id="15" name="Agentic Sidekick Voice…">
                <a:extLst>
                  <a:ext uri="{FF2B5EF4-FFF2-40B4-BE49-F238E27FC236}">
                    <a16:creationId xmlns:a16="http://schemas.microsoft.com/office/drawing/2014/main" id="{FA4C7594-A31E-1748-157B-A27C93A02DD3}"/>
                  </a:ext>
                </a:extLst>
              </p:cNvPr>
              <p:cNvSpPr txBox="1"/>
              <p:nvPr/>
            </p:nvSpPr>
            <p:spPr>
              <a:xfrm>
                <a:off x="93570" y="150549"/>
                <a:ext cx="1972863" cy="8509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/>
              <a:p>
                <a:pPr algn="ctr">
                  <a:defRPr sz="1200">
                    <a:solidFill>
                      <a:srgbClr val="031F49"/>
                    </a:solidFill>
                    <a:latin typeface="Poppins Bold"/>
                    <a:ea typeface="Poppins Bold"/>
                    <a:cs typeface="Poppins Bold"/>
                    <a:sym typeface="Poppins Bold"/>
                  </a:defRPr>
                </a:pPr>
                <a:r>
                  <a:rPr lang="en-US" sz="1100" dirty="0"/>
                  <a:t>AI </a:t>
                </a:r>
                <a:r>
                  <a:rPr sz="1100" dirty="0"/>
                  <a:t>Voice</a:t>
                </a:r>
                <a:endParaRPr sz="1100" dirty="0">
                  <a:solidFill>
                    <a:srgbClr val="FFFFFF"/>
                  </a:solidFill>
                </a:endParaRPr>
              </a:p>
              <a:p>
                <a:pPr algn="ctr">
                  <a:defRPr sz="1200">
                    <a:solidFill>
                      <a:srgbClr val="FFFFFF"/>
                    </a:solidFill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endParaRPr sz="1100" dirty="0">
                  <a:solidFill>
                    <a:srgbClr val="FFFFFF"/>
                  </a:solidFill>
                </a:endParaRPr>
              </a:p>
              <a:p>
                <a:pPr algn="ctr">
                  <a:defRPr sz="1200">
                    <a:solidFill>
                      <a:srgbClr val="262626"/>
                    </a:solidFill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r>
                  <a:rPr lang="en-US" sz="1100" dirty="0"/>
                  <a:t>Overflow / After-Hours PSA integrated </a:t>
                </a:r>
                <a:endParaRPr sz="1100" dirty="0"/>
              </a:p>
            </p:txBody>
          </p:sp>
        </p:grpSp>
        <p:grpSp>
          <p:nvGrpSpPr>
            <p:cNvPr id="11" name="Rectangle: Rounded Corners 10">
              <a:extLst>
                <a:ext uri="{FF2B5EF4-FFF2-40B4-BE49-F238E27FC236}">
                  <a16:creationId xmlns:a16="http://schemas.microsoft.com/office/drawing/2014/main" id="{20C3F5FC-A45C-8F2E-27A0-B530FB42DF22}"/>
                </a:ext>
              </a:extLst>
            </p:cNvPr>
            <p:cNvGrpSpPr/>
            <p:nvPr/>
          </p:nvGrpSpPr>
          <p:grpSpPr>
            <a:xfrm>
              <a:off x="360914" y="4803877"/>
              <a:ext cx="1909182" cy="1041709"/>
              <a:chOff x="0" y="0"/>
              <a:chExt cx="2160003" cy="1152003"/>
            </a:xfrm>
          </p:grpSpPr>
          <p:sp>
            <p:nvSpPr>
              <p:cNvPr id="12" name="Rounded Rectangle">
                <a:extLst>
                  <a:ext uri="{FF2B5EF4-FFF2-40B4-BE49-F238E27FC236}">
                    <a16:creationId xmlns:a16="http://schemas.microsoft.com/office/drawing/2014/main" id="{818867A6-587B-9554-75A7-4C1D847BD9DE}"/>
                  </a:ext>
                </a:extLst>
              </p:cNvPr>
              <p:cNvSpPr/>
              <p:nvPr/>
            </p:nvSpPr>
            <p:spPr>
              <a:xfrm>
                <a:off x="0" y="0"/>
                <a:ext cx="2160003" cy="1152003"/>
              </a:xfrm>
              <a:prstGeom prst="roundRect">
                <a:avLst>
                  <a:gd name="adj" fmla="val 12300"/>
                </a:avLst>
              </a:prstGeom>
              <a:solidFill>
                <a:srgbClr val="92D050"/>
              </a:solidFill>
              <a:ln w="12700" cap="flat">
                <a:solidFill>
                  <a:srgbClr val="FEDE00"/>
                </a:solidFill>
                <a:prstDash val="dash"/>
                <a:round/>
              </a:ln>
              <a:effectLst>
                <a:outerShdw blurRad="177800" rotWithShape="0">
                  <a:srgbClr val="172B4D">
                    <a:alpha val="19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sz="1100"/>
              </a:p>
            </p:txBody>
          </p:sp>
          <p:sp>
            <p:nvSpPr>
              <p:cNvPr id="13" name="Agentic Sidekick Voice…">
                <a:extLst>
                  <a:ext uri="{FF2B5EF4-FFF2-40B4-BE49-F238E27FC236}">
                    <a16:creationId xmlns:a16="http://schemas.microsoft.com/office/drawing/2014/main" id="{D31265CF-977D-0468-7100-BB8B153F7506}"/>
                  </a:ext>
                </a:extLst>
              </p:cNvPr>
              <p:cNvSpPr txBox="1"/>
              <p:nvPr/>
            </p:nvSpPr>
            <p:spPr>
              <a:xfrm>
                <a:off x="93570" y="150549"/>
                <a:ext cx="1972863" cy="8509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/>
              <a:p>
                <a:pPr algn="ctr">
                  <a:defRPr sz="1200">
                    <a:solidFill>
                      <a:srgbClr val="031F49"/>
                    </a:solidFill>
                    <a:latin typeface="Poppins Bold"/>
                    <a:ea typeface="Poppins Bold"/>
                    <a:cs typeface="Poppins Bold"/>
                    <a:sym typeface="Poppins Bold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Enterprise Search</a:t>
                </a:r>
                <a:endParaRPr sz="1100" dirty="0">
                  <a:solidFill>
                    <a:schemeClr val="tx1"/>
                  </a:solidFill>
                </a:endParaRPr>
              </a:p>
              <a:p>
                <a:pPr algn="ctr">
                  <a:defRPr sz="1200">
                    <a:solidFill>
                      <a:srgbClr val="FFFFFF"/>
                    </a:solidFill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endParaRPr sz="1100" dirty="0">
                  <a:solidFill>
                    <a:srgbClr val="FFFFFF"/>
                  </a:solidFill>
                </a:endParaRPr>
              </a:p>
              <a:p>
                <a:pPr algn="ctr">
                  <a:defRPr sz="1200">
                    <a:solidFill>
                      <a:srgbClr val="262626"/>
                    </a:solidFill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r>
                  <a:rPr lang="en-US" sz="1100" dirty="0"/>
                  <a:t>Train chatbots on their data</a:t>
                </a:r>
                <a:endParaRPr sz="1100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796F67-8039-15CE-41A7-F9590794A14E}"/>
              </a:ext>
            </a:extLst>
          </p:cNvPr>
          <p:cNvGrpSpPr/>
          <p:nvPr/>
        </p:nvGrpSpPr>
        <p:grpSpPr>
          <a:xfrm>
            <a:off x="7692640" y="2082177"/>
            <a:ext cx="4157177" cy="3624825"/>
            <a:chOff x="7692640" y="2082177"/>
            <a:chExt cx="4157177" cy="3624825"/>
          </a:xfrm>
          <a:solidFill>
            <a:srgbClr val="4D4DFF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E2BADC-7021-6BA3-74F1-15088F073D89}"/>
                </a:ext>
              </a:extLst>
            </p:cNvPr>
            <p:cNvGrpSpPr/>
            <p:nvPr/>
          </p:nvGrpSpPr>
          <p:grpSpPr>
            <a:xfrm>
              <a:off x="7692640" y="2082177"/>
              <a:ext cx="4148593" cy="1023690"/>
              <a:chOff x="7692640" y="2082177"/>
              <a:chExt cx="4148593" cy="1023690"/>
            </a:xfrm>
            <a:grpFill/>
          </p:grpSpPr>
          <p:grpSp>
            <p:nvGrpSpPr>
              <p:cNvPr id="33" name="Rectangle: Rounded Corners 1">
                <a:extLst>
                  <a:ext uri="{FF2B5EF4-FFF2-40B4-BE49-F238E27FC236}">
                    <a16:creationId xmlns:a16="http://schemas.microsoft.com/office/drawing/2014/main" id="{689CF41A-B5C3-1EA9-7EEB-6DC49E1B88A5}"/>
                  </a:ext>
                </a:extLst>
              </p:cNvPr>
              <p:cNvGrpSpPr/>
              <p:nvPr/>
            </p:nvGrpSpPr>
            <p:grpSpPr>
              <a:xfrm>
                <a:off x="7692640" y="2097244"/>
                <a:ext cx="1909182" cy="1008623"/>
                <a:chOff x="17798" y="75797"/>
                <a:chExt cx="2160003" cy="1152002"/>
              </a:xfrm>
              <a:grpFill/>
            </p:grpSpPr>
            <p:sp>
              <p:nvSpPr>
                <p:cNvPr id="37" name="Rounded Rectangle">
                  <a:extLst>
                    <a:ext uri="{FF2B5EF4-FFF2-40B4-BE49-F238E27FC236}">
                      <a16:creationId xmlns:a16="http://schemas.microsoft.com/office/drawing/2014/main" id="{AECCD079-CB58-593B-EAA8-C50F1968CE65}"/>
                    </a:ext>
                  </a:extLst>
                </p:cNvPr>
                <p:cNvSpPr/>
                <p:nvPr/>
              </p:nvSpPr>
              <p:spPr>
                <a:xfrm>
                  <a:off x="17798" y="75797"/>
                  <a:ext cx="2160003" cy="1152002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38" name="Agentic Sidekick 3.0…">
                  <a:extLst>
                    <a:ext uri="{FF2B5EF4-FFF2-40B4-BE49-F238E27FC236}">
                      <a16:creationId xmlns:a16="http://schemas.microsoft.com/office/drawing/2014/main" id="{6FE2AC1C-3CE3-20BE-5146-75DCF32862D8}"/>
                    </a:ext>
                  </a:extLst>
                </p:cNvPr>
                <p:cNvSpPr txBox="1"/>
                <p:nvPr/>
              </p:nvSpPr>
              <p:spPr>
                <a:xfrm>
                  <a:off x="39267" y="316522"/>
                  <a:ext cx="2064302" cy="773361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Triage</a:t>
                  </a:r>
                </a:p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endParaRPr lang="en-US"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Poppins Regular" panose="00000500000000000000" pitchFamily="2" charset="0"/>
                    <a:cs typeface="Poppins Regular" panose="00000500000000000000" pitchFamily="2" charset="0"/>
                  </a:endParaRPr>
                </a:p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Poppins Regular" panose="00000500000000000000" pitchFamily="2" charset="0"/>
                      <a:cs typeface="Poppins Regular" panose="00000500000000000000" pitchFamily="2" charset="0"/>
                    </a:rPr>
                    <a:t>MSP branded Teams Chatbot PSA integrated</a:t>
                  </a:r>
                </a:p>
              </p:txBody>
            </p:sp>
          </p:grpSp>
          <p:grpSp>
            <p:nvGrpSpPr>
              <p:cNvPr id="34" name="Rectangle: Rounded Corners 10">
                <a:extLst>
                  <a:ext uri="{FF2B5EF4-FFF2-40B4-BE49-F238E27FC236}">
                    <a16:creationId xmlns:a16="http://schemas.microsoft.com/office/drawing/2014/main" id="{2E06CFF0-E86E-D89E-DAD2-786366B9598E}"/>
                  </a:ext>
                </a:extLst>
              </p:cNvPr>
              <p:cNvGrpSpPr/>
              <p:nvPr/>
            </p:nvGrpSpPr>
            <p:grpSpPr>
              <a:xfrm>
                <a:off x="9932051" y="2082177"/>
                <a:ext cx="1909182" cy="1008624"/>
                <a:chOff x="0" y="0"/>
                <a:chExt cx="2160003" cy="1152003"/>
              </a:xfrm>
              <a:grpFill/>
            </p:grpSpPr>
            <p:sp>
              <p:nvSpPr>
                <p:cNvPr id="35" name="Rounded Rectangle">
                  <a:extLst>
                    <a:ext uri="{FF2B5EF4-FFF2-40B4-BE49-F238E27FC236}">
                      <a16:creationId xmlns:a16="http://schemas.microsoft.com/office/drawing/2014/main" id="{DF9246ED-B98D-B3BF-23E0-CBA17C519E3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60003" cy="1152003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36" name="Agentic Sidekick Voice…">
                  <a:extLst>
                    <a:ext uri="{FF2B5EF4-FFF2-40B4-BE49-F238E27FC236}">
                      <a16:creationId xmlns:a16="http://schemas.microsoft.com/office/drawing/2014/main" id="{31CC1612-88D0-069E-BCD4-7268121AE95C}"/>
                    </a:ext>
                  </a:extLst>
                </p:cNvPr>
                <p:cNvSpPr txBox="1"/>
                <p:nvPr/>
              </p:nvSpPr>
              <p:spPr>
                <a:xfrm>
                  <a:off x="93570" y="136594"/>
                  <a:ext cx="1972863" cy="878815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8" tIns="45718" rIns="45718" bIns="45718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Escalations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FFFFFF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262626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r>
                    <a:rPr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Multimodal AI for Telephony</a:t>
                  </a: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80B30D-C137-794D-B3DF-5F5F90E7FE4A}"/>
                </a:ext>
              </a:extLst>
            </p:cNvPr>
            <p:cNvGrpSpPr/>
            <p:nvPr/>
          </p:nvGrpSpPr>
          <p:grpSpPr>
            <a:xfrm>
              <a:off x="7711616" y="3407549"/>
              <a:ext cx="4138201" cy="2299453"/>
              <a:chOff x="7711616" y="3407549"/>
              <a:chExt cx="4138201" cy="2299453"/>
            </a:xfrm>
            <a:grpFill/>
          </p:grpSpPr>
          <p:grpSp>
            <p:nvGrpSpPr>
              <p:cNvPr id="21" name="Rectangle: Rounded Corners 10">
                <a:extLst>
                  <a:ext uri="{FF2B5EF4-FFF2-40B4-BE49-F238E27FC236}">
                    <a16:creationId xmlns:a16="http://schemas.microsoft.com/office/drawing/2014/main" id="{DA4193BB-097B-0AA5-F75F-DC3A086019E2}"/>
                  </a:ext>
                </a:extLst>
              </p:cNvPr>
              <p:cNvGrpSpPr/>
              <p:nvPr/>
            </p:nvGrpSpPr>
            <p:grpSpPr>
              <a:xfrm>
                <a:off x="9932051" y="3437920"/>
                <a:ext cx="1909182" cy="1008624"/>
                <a:chOff x="0" y="0"/>
                <a:chExt cx="2160003" cy="1152003"/>
              </a:xfrm>
              <a:grpFill/>
            </p:grpSpPr>
            <p:sp>
              <p:nvSpPr>
                <p:cNvPr id="31" name="Rounded Rectangle">
                  <a:extLst>
                    <a:ext uri="{FF2B5EF4-FFF2-40B4-BE49-F238E27FC236}">
                      <a16:creationId xmlns:a16="http://schemas.microsoft.com/office/drawing/2014/main" id="{A1B2FDE9-31EF-6067-B4A8-89DE8D664D5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60003" cy="1152003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32" name="Agentic Sidekick Voice…">
                  <a:extLst>
                    <a:ext uri="{FF2B5EF4-FFF2-40B4-BE49-F238E27FC236}">
                      <a16:creationId xmlns:a16="http://schemas.microsoft.com/office/drawing/2014/main" id="{B1F2F366-9DC4-F80C-A11F-621D23221BE5}"/>
                    </a:ext>
                  </a:extLst>
                </p:cNvPr>
                <p:cNvSpPr txBox="1"/>
                <p:nvPr/>
              </p:nvSpPr>
              <p:spPr>
                <a:xfrm>
                  <a:off x="93570" y="136594"/>
                  <a:ext cx="1972863" cy="878815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8" tIns="45718" rIns="45718" bIns="45718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Client Health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FFFFFF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262626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CBR / QBR / contract renewal prep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p:grpSp>
          <p:grpSp>
            <p:nvGrpSpPr>
              <p:cNvPr id="22" name="Rectangle: Rounded Corners 10">
                <a:extLst>
                  <a:ext uri="{FF2B5EF4-FFF2-40B4-BE49-F238E27FC236}">
                    <a16:creationId xmlns:a16="http://schemas.microsoft.com/office/drawing/2014/main" id="{FAFFC441-424D-5378-85DB-16E70AD7F2C2}"/>
                  </a:ext>
                </a:extLst>
              </p:cNvPr>
              <p:cNvGrpSpPr/>
              <p:nvPr/>
            </p:nvGrpSpPr>
            <p:grpSpPr>
              <a:xfrm>
                <a:off x="7711616" y="3407549"/>
                <a:ext cx="1909182" cy="1008624"/>
                <a:chOff x="0" y="0"/>
                <a:chExt cx="2160003" cy="1152003"/>
              </a:xfrm>
              <a:grpFill/>
            </p:grpSpPr>
            <p:sp>
              <p:nvSpPr>
                <p:cNvPr id="29" name="Rounded Rectangle">
                  <a:extLst>
                    <a:ext uri="{FF2B5EF4-FFF2-40B4-BE49-F238E27FC236}">
                      <a16:creationId xmlns:a16="http://schemas.microsoft.com/office/drawing/2014/main" id="{6AC9B27E-F1E1-DEBF-B491-BB952BE85A0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60003" cy="1152003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30" name="Agentic Sidekick Voice…">
                  <a:extLst>
                    <a:ext uri="{FF2B5EF4-FFF2-40B4-BE49-F238E27FC236}">
                      <a16:creationId xmlns:a16="http://schemas.microsoft.com/office/drawing/2014/main" id="{2067FDDD-7A18-F114-46FF-83F45C0719FC}"/>
                    </a:ext>
                  </a:extLst>
                </p:cNvPr>
                <p:cNvSpPr txBox="1"/>
                <p:nvPr/>
              </p:nvSpPr>
              <p:spPr>
                <a:xfrm>
                  <a:off x="93570" y="136594"/>
                  <a:ext cx="1972863" cy="878815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8" tIns="45718" rIns="45718" bIns="45718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Engineer Health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FFFFFF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262626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Productivity, Coaching, Skills Eval &amp; Check-In’s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p:grpSp>
          <p:grpSp>
            <p:nvGrpSpPr>
              <p:cNvPr id="23" name="Rectangle: Rounded Corners 10">
                <a:extLst>
                  <a:ext uri="{FF2B5EF4-FFF2-40B4-BE49-F238E27FC236}">
                    <a16:creationId xmlns:a16="http://schemas.microsoft.com/office/drawing/2014/main" id="{E1A13A62-DCC5-C0BD-8B26-1C2B94724534}"/>
                  </a:ext>
                </a:extLst>
              </p:cNvPr>
              <p:cNvGrpSpPr/>
              <p:nvPr/>
            </p:nvGrpSpPr>
            <p:grpSpPr>
              <a:xfrm>
                <a:off x="7711616" y="4654281"/>
                <a:ext cx="1909182" cy="1008624"/>
                <a:chOff x="0" y="0"/>
                <a:chExt cx="2160003" cy="1152003"/>
              </a:xfrm>
              <a:grpFill/>
            </p:grpSpPr>
            <p:sp>
              <p:nvSpPr>
                <p:cNvPr id="27" name="Rounded Rectangle">
                  <a:extLst>
                    <a:ext uri="{FF2B5EF4-FFF2-40B4-BE49-F238E27FC236}">
                      <a16:creationId xmlns:a16="http://schemas.microsoft.com/office/drawing/2014/main" id="{4997548C-CA91-B894-9E0C-E570C935DAE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60003" cy="1152003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28" name="Agentic Sidekick Voice…">
                  <a:extLst>
                    <a:ext uri="{FF2B5EF4-FFF2-40B4-BE49-F238E27FC236}">
                      <a16:creationId xmlns:a16="http://schemas.microsoft.com/office/drawing/2014/main" id="{5E792362-4050-C7B6-915E-0BB25F0EA127}"/>
                    </a:ext>
                  </a:extLst>
                </p:cNvPr>
                <p:cNvSpPr txBox="1"/>
                <p:nvPr/>
              </p:nvSpPr>
              <p:spPr>
                <a:xfrm>
                  <a:off x="93570" y="136594"/>
                  <a:ext cx="1972863" cy="878815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8" tIns="45718" rIns="45718" bIns="45718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Group Scheduler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FFFFFF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262626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AI infused scheduling assistant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p:grpSp>
          <p:grpSp>
            <p:nvGrpSpPr>
              <p:cNvPr id="24" name="Rectangle: Rounded Corners 10">
                <a:extLst>
                  <a:ext uri="{FF2B5EF4-FFF2-40B4-BE49-F238E27FC236}">
                    <a16:creationId xmlns:a16="http://schemas.microsoft.com/office/drawing/2014/main" id="{7B910A04-1231-ADB5-064F-68B84252F8A3}"/>
                  </a:ext>
                </a:extLst>
              </p:cNvPr>
              <p:cNvGrpSpPr/>
              <p:nvPr/>
            </p:nvGrpSpPr>
            <p:grpSpPr>
              <a:xfrm>
                <a:off x="9940635" y="4698378"/>
                <a:ext cx="1909182" cy="1008624"/>
                <a:chOff x="0" y="0"/>
                <a:chExt cx="2160003" cy="1152003"/>
              </a:xfrm>
              <a:grpFill/>
            </p:grpSpPr>
            <p:sp>
              <p:nvSpPr>
                <p:cNvPr id="25" name="Rounded Rectangle">
                  <a:extLst>
                    <a:ext uri="{FF2B5EF4-FFF2-40B4-BE49-F238E27FC236}">
                      <a16:creationId xmlns:a16="http://schemas.microsoft.com/office/drawing/2014/main" id="{366020B6-7216-6AB9-8B3E-97A6198D24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60003" cy="1152003"/>
                </a:xfrm>
                <a:prstGeom prst="roundRect">
                  <a:avLst>
                    <a:gd name="adj" fmla="val 12300"/>
                  </a:avLst>
                </a:prstGeom>
                <a:grpFill/>
                <a:ln w="12700" cap="flat">
                  <a:solidFill>
                    <a:srgbClr val="FEDE00"/>
                  </a:solidFill>
                  <a:prstDash val="dash"/>
                  <a:round/>
                </a:ln>
                <a:effectLst>
                  <a:outerShdw blurRad="177800" rotWithShape="0">
                    <a:srgbClr val="172B4D">
                      <a:alpha val="19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10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26" name="Agentic Sidekick Voice…">
                  <a:extLst>
                    <a:ext uri="{FF2B5EF4-FFF2-40B4-BE49-F238E27FC236}">
                      <a16:creationId xmlns:a16="http://schemas.microsoft.com/office/drawing/2014/main" id="{F4FCBFB5-1290-F2D5-8481-B5A35AA89544}"/>
                    </a:ext>
                  </a:extLst>
                </p:cNvPr>
                <p:cNvSpPr txBox="1"/>
                <p:nvPr/>
              </p:nvSpPr>
              <p:spPr>
                <a:xfrm>
                  <a:off x="93570" y="39924"/>
                  <a:ext cx="1972863" cy="1072155"/>
                </a:xfrm>
                <a:prstGeom prst="rect">
                  <a:avLst/>
                </a:prstGeom>
                <a:grp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8" tIns="45718" rIns="45718" bIns="45718" numCol="1" anchor="ctr">
                  <a:spAutoFit/>
                </a:bodyPr>
                <a:lstStyle/>
                <a:p>
                  <a:pPr algn="ctr">
                    <a:defRPr sz="1200">
                      <a:solidFill>
                        <a:srgbClr val="031F49"/>
                      </a:solidFill>
                      <a:latin typeface="Poppins Bold"/>
                      <a:ea typeface="Poppins Bold"/>
                      <a:cs typeface="Poppins Bold"/>
                      <a:sym typeface="Poppins Bold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&lt; Revenue Leakage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FFFFFF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  <a:p>
                  <a:pPr algn="ctr">
                    <a:defRPr sz="1200">
                      <a:solidFill>
                        <a:srgbClr val="262626"/>
                      </a:solidFill>
                      <a:latin typeface="Poppins Regular"/>
                      <a:ea typeface="Poppins Regular"/>
                      <a:cs typeface="Poppins Regular"/>
                      <a:sym typeface="Poppins Regular"/>
                    </a:defRPr>
                  </a:pPr>
                  <a:r>
                    <a:rPr 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rPr>
                    <a:t>Identifies tickets &amp; requests that lack client entitlement</a:t>
                  </a:r>
                  <a:endParaRPr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p:grpSp>
        </p:grpSp>
      </p:grpSp>
      <p:grpSp>
        <p:nvGrpSpPr>
          <p:cNvPr id="40" name="Rectangle: Rounded Corners 1">
            <a:extLst>
              <a:ext uri="{FF2B5EF4-FFF2-40B4-BE49-F238E27FC236}">
                <a16:creationId xmlns:a16="http://schemas.microsoft.com/office/drawing/2014/main" id="{9584CBD8-1A8C-97CC-4409-CC21A2AAEC05}"/>
              </a:ext>
            </a:extLst>
          </p:cNvPr>
          <p:cNvGrpSpPr/>
          <p:nvPr/>
        </p:nvGrpSpPr>
        <p:grpSpPr>
          <a:xfrm>
            <a:off x="2842004" y="2052236"/>
            <a:ext cx="1966151" cy="1008623"/>
            <a:chOff x="17798" y="75797"/>
            <a:chExt cx="2160003" cy="1152002"/>
          </a:xfrm>
          <a:solidFill>
            <a:srgbClr val="ED347A"/>
          </a:solidFill>
        </p:grpSpPr>
        <p:sp>
          <p:nvSpPr>
            <p:cNvPr id="53" name="Rounded Rectangle">
              <a:extLst>
                <a:ext uri="{FF2B5EF4-FFF2-40B4-BE49-F238E27FC236}">
                  <a16:creationId xmlns:a16="http://schemas.microsoft.com/office/drawing/2014/main" id="{F8A95033-743B-7C41-040D-DA9F921A3696}"/>
                </a:ext>
              </a:extLst>
            </p:cNvPr>
            <p:cNvSpPr/>
            <p:nvPr/>
          </p:nvSpPr>
          <p:spPr>
            <a:xfrm>
              <a:off x="17798" y="75797"/>
              <a:ext cx="2160003" cy="1152002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54" name="Agentic Sidekick 3.0…">
              <a:extLst>
                <a:ext uri="{FF2B5EF4-FFF2-40B4-BE49-F238E27FC236}">
                  <a16:creationId xmlns:a16="http://schemas.microsoft.com/office/drawing/2014/main" id="{A0F35981-3323-FE9D-2E23-FBCF1D818A34}"/>
                </a:ext>
              </a:extLst>
            </p:cNvPr>
            <p:cNvSpPr txBox="1"/>
            <p:nvPr/>
          </p:nvSpPr>
          <p:spPr>
            <a:xfrm>
              <a:off x="39267" y="316524"/>
              <a:ext cx="2064302" cy="773361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Ticket Alerts</a:t>
              </a:r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>
                <a:latin typeface="Poppins Regular" panose="00000500000000000000" pitchFamily="2" charset="0"/>
                <a:cs typeface="Poppins Regular" panose="00000500000000000000" pitchFamily="2" charset="0"/>
              </a:endParaRPr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>
                  <a:latin typeface="Poppins Regular" panose="00000500000000000000" pitchFamily="2" charset="0"/>
                  <a:cs typeface="Poppins Regular" panose="00000500000000000000" pitchFamily="2" charset="0"/>
                </a:rPr>
                <a:t>MSP branded Teams Chatbot PSA integrated</a:t>
              </a:r>
            </a:p>
          </p:txBody>
        </p:sp>
      </p:grpSp>
      <p:grpSp>
        <p:nvGrpSpPr>
          <p:cNvPr id="41" name="Rectangle: Rounded Corners 10">
            <a:extLst>
              <a:ext uri="{FF2B5EF4-FFF2-40B4-BE49-F238E27FC236}">
                <a16:creationId xmlns:a16="http://schemas.microsoft.com/office/drawing/2014/main" id="{3A4AD0C5-CE89-B8EA-325D-2520BCADEE5F}"/>
              </a:ext>
            </a:extLst>
          </p:cNvPr>
          <p:cNvGrpSpPr/>
          <p:nvPr/>
        </p:nvGrpSpPr>
        <p:grpSpPr>
          <a:xfrm>
            <a:off x="5208692" y="3392131"/>
            <a:ext cx="1966151" cy="1008624"/>
            <a:chOff x="0" y="0"/>
            <a:chExt cx="2160003" cy="1152003"/>
          </a:xfrm>
          <a:solidFill>
            <a:srgbClr val="ED347A"/>
          </a:solidFill>
        </p:grpSpPr>
        <p:sp>
          <p:nvSpPr>
            <p:cNvPr id="51" name="Rounded Rectangle">
              <a:extLst>
                <a:ext uri="{FF2B5EF4-FFF2-40B4-BE49-F238E27FC236}">
                  <a16:creationId xmlns:a16="http://schemas.microsoft.com/office/drawing/2014/main" id="{65F80184-FFB3-5357-D728-8F3CAD14F48F}"/>
                </a:ext>
              </a:extLst>
            </p:cNvPr>
            <p:cNvSpPr/>
            <p:nvPr/>
          </p:nvSpPr>
          <p:spPr>
            <a:xfrm>
              <a:off x="0" y="0"/>
              <a:ext cx="2160003" cy="1152003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52" name="Agentic Sidekick Voice…">
              <a:extLst>
                <a:ext uri="{FF2B5EF4-FFF2-40B4-BE49-F238E27FC236}">
                  <a16:creationId xmlns:a16="http://schemas.microsoft.com/office/drawing/2014/main" id="{A4E38C87-1D8C-D209-0767-A16977477016}"/>
                </a:ext>
              </a:extLst>
            </p:cNvPr>
            <p:cNvSpPr txBox="1"/>
            <p:nvPr/>
          </p:nvSpPr>
          <p:spPr>
            <a:xfrm>
              <a:off x="93570" y="39923"/>
              <a:ext cx="1972863" cy="107215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/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Enterprise Search</a:t>
              </a: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FFFFFF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262626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r>
                <a:rPr lang="en-US" sz="1100" dirty="0"/>
                <a:t>Historical tickets, client doc,, SharePoint</a:t>
              </a:r>
              <a:endParaRPr sz="1100" dirty="0"/>
            </a:p>
          </p:txBody>
        </p:sp>
      </p:grpSp>
      <p:grpSp>
        <p:nvGrpSpPr>
          <p:cNvPr id="42" name="Rectangle: Rounded Corners 10">
            <a:extLst>
              <a:ext uri="{FF2B5EF4-FFF2-40B4-BE49-F238E27FC236}">
                <a16:creationId xmlns:a16="http://schemas.microsoft.com/office/drawing/2014/main" id="{92B29F56-2385-799A-FC8C-5BC1E41ED7DF}"/>
              </a:ext>
            </a:extLst>
          </p:cNvPr>
          <p:cNvGrpSpPr/>
          <p:nvPr/>
        </p:nvGrpSpPr>
        <p:grpSpPr>
          <a:xfrm>
            <a:off x="2815452" y="3427087"/>
            <a:ext cx="1966151" cy="1008624"/>
            <a:chOff x="0" y="0"/>
            <a:chExt cx="2160003" cy="1152003"/>
          </a:xfrm>
          <a:solidFill>
            <a:srgbClr val="ED347A"/>
          </a:solidFill>
        </p:grpSpPr>
        <p:sp>
          <p:nvSpPr>
            <p:cNvPr id="49" name="Rounded Rectangle">
              <a:extLst>
                <a:ext uri="{FF2B5EF4-FFF2-40B4-BE49-F238E27FC236}">
                  <a16:creationId xmlns:a16="http://schemas.microsoft.com/office/drawing/2014/main" id="{950C276C-836D-0297-A6BA-E57959750B7C}"/>
                </a:ext>
              </a:extLst>
            </p:cNvPr>
            <p:cNvSpPr/>
            <p:nvPr/>
          </p:nvSpPr>
          <p:spPr>
            <a:xfrm>
              <a:off x="0" y="0"/>
              <a:ext cx="2160003" cy="1152003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50" name="Agentic Sidekick Voice…">
              <a:extLst>
                <a:ext uri="{FF2B5EF4-FFF2-40B4-BE49-F238E27FC236}">
                  <a16:creationId xmlns:a16="http://schemas.microsoft.com/office/drawing/2014/main" id="{90F5BFCE-3BE5-8BCC-ADD0-CDBE701B7ACF}"/>
                </a:ext>
              </a:extLst>
            </p:cNvPr>
            <p:cNvSpPr txBox="1"/>
            <p:nvPr/>
          </p:nvSpPr>
          <p:spPr>
            <a:xfrm>
              <a:off x="93570" y="39923"/>
              <a:ext cx="1972863" cy="107215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/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Admin Assist</a:t>
              </a: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FFFFFF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262626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r>
                <a:rPr lang="en-US" sz="1100" dirty="0"/>
                <a:t>Ticket classification, time entries, replies</a:t>
              </a:r>
              <a:endParaRPr sz="1100" dirty="0"/>
            </a:p>
          </p:txBody>
        </p:sp>
      </p:grpSp>
      <p:grpSp>
        <p:nvGrpSpPr>
          <p:cNvPr id="43" name="Rectangle: Rounded Corners 10">
            <a:extLst>
              <a:ext uri="{FF2B5EF4-FFF2-40B4-BE49-F238E27FC236}">
                <a16:creationId xmlns:a16="http://schemas.microsoft.com/office/drawing/2014/main" id="{E87D358F-A1E5-A616-2456-801EC9E1171F}"/>
              </a:ext>
            </a:extLst>
          </p:cNvPr>
          <p:cNvGrpSpPr/>
          <p:nvPr/>
        </p:nvGrpSpPr>
        <p:grpSpPr>
          <a:xfrm>
            <a:off x="5200109" y="4705048"/>
            <a:ext cx="1966151" cy="1008624"/>
            <a:chOff x="0" y="0"/>
            <a:chExt cx="2160003" cy="1152003"/>
          </a:xfrm>
          <a:solidFill>
            <a:srgbClr val="ED347A"/>
          </a:solidFill>
        </p:grpSpPr>
        <p:sp>
          <p:nvSpPr>
            <p:cNvPr id="47" name="Rounded Rectangle">
              <a:extLst>
                <a:ext uri="{FF2B5EF4-FFF2-40B4-BE49-F238E27FC236}">
                  <a16:creationId xmlns:a16="http://schemas.microsoft.com/office/drawing/2014/main" id="{EE7D5F32-F32B-6E9C-2D2E-31C17D26F854}"/>
                </a:ext>
              </a:extLst>
            </p:cNvPr>
            <p:cNvSpPr/>
            <p:nvPr/>
          </p:nvSpPr>
          <p:spPr>
            <a:xfrm>
              <a:off x="0" y="0"/>
              <a:ext cx="2160003" cy="1152003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48" name="Agentic Sidekick Voice…">
              <a:extLst>
                <a:ext uri="{FF2B5EF4-FFF2-40B4-BE49-F238E27FC236}">
                  <a16:creationId xmlns:a16="http://schemas.microsoft.com/office/drawing/2014/main" id="{D92D1B36-AA9D-32BF-DEA9-3A3A2328E0AA}"/>
                </a:ext>
              </a:extLst>
            </p:cNvPr>
            <p:cNvSpPr txBox="1"/>
            <p:nvPr/>
          </p:nvSpPr>
          <p:spPr>
            <a:xfrm>
              <a:off x="93570" y="39923"/>
              <a:ext cx="1972863" cy="107215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/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Client Environment</a:t>
              </a: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FFFFFF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lang="en-US"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262626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r>
                <a:rPr lang="en-US" sz="1100" dirty="0"/>
                <a:t>Tech stack, frequently requested items</a:t>
              </a:r>
            </a:p>
          </p:txBody>
        </p:sp>
      </p:grpSp>
      <p:grpSp>
        <p:nvGrpSpPr>
          <p:cNvPr id="44" name="Rectangle: Rounded Corners 10">
            <a:extLst>
              <a:ext uri="{FF2B5EF4-FFF2-40B4-BE49-F238E27FC236}">
                <a16:creationId xmlns:a16="http://schemas.microsoft.com/office/drawing/2014/main" id="{F87F34E3-3D1B-5BDC-F885-72EFF1F28B47}"/>
              </a:ext>
            </a:extLst>
          </p:cNvPr>
          <p:cNvGrpSpPr/>
          <p:nvPr/>
        </p:nvGrpSpPr>
        <p:grpSpPr>
          <a:xfrm>
            <a:off x="2815452" y="4710244"/>
            <a:ext cx="1966151" cy="1016493"/>
            <a:chOff x="-18311" y="-48913"/>
            <a:chExt cx="2160003" cy="1160991"/>
          </a:xfrm>
          <a:solidFill>
            <a:srgbClr val="ED347A"/>
          </a:solidFill>
        </p:grpSpPr>
        <p:sp>
          <p:nvSpPr>
            <p:cNvPr id="45" name="Rounded Rectangle">
              <a:extLst>
                <a:ext uri="{FF2B5EF4-FFF2-40B4-BE49-F238E27FC236}">
                  <a16:creationId xmlns:a16="http://schemas.microsoft.com/office/drawing/2014/main" id="{07A42B4E-25FA-6183-2894-45DC56EF7DAB}"/>
                </a:ext>
              </a:extLst>
            </p:cNvPr>
            <p:cNvSpPr/>
            <p:nvPr/>
          </p:nvSpPr>
          <p:spPr>
            <a:xfrm>
              <a:off x="-18311" y="-48913"/>
              <a:ext cx="2160003" cy="1152003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46" name="Agentic Sidekick Voice…">
              <a:extLst>
                <a:ext uri="{FF2B5EF4-FFF2-40B4-BE49-F238E27FC236}">
                  <a16:creationId xmlns:a16="http://schemas.microsoft.com/office/drawing/2014/main" id="{AF37D9AC-A0A5-805E-EF57-34AF238817F2}"/>
                </a:ext>
              </a:extLst>
            </p:cNvPr>
            <p:cNvSpPr txBox="1"/>
            <p:nvPr/>
          </p:nvSpPr>
          <p:spPr>
            <a:xfrm>
              <a:off x="93570" y="39923"/>
              <a:ext cx="1972863" cy="107215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/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Hands Free Mode</a:t>
              </a: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FFFFFF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262626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r>
                <a:rPr lang="en-US" sz="1100" dirty="0"/>
                <a:t>Captures phone &amp; chat updates ticket.</a:t>
              </a:r>
              <a:endParaRPr sz="1100" dirty="0"/>
            </a:p>
          </p:txBody>
        </p:sp>
      </p:grpSp>
      <p:grpSp>
        <p:nvGrpSpPr>
          <p:cNvPr id="55" name="Speech Bubble: Rectangle with Corners Rounded 91">
            <a:extLst>
              <a:ext uri="{FF2B5EF4-FFF2-40B4-BE49-F238E27FC236}">
                <a16:creationId xmlns:a16="http://schemas.microsoft.com/office/drawing/2014/main" id="{52114843-23B2-C607-4E41-FBB3F5CD7997}"/>
              </a:ext>
            </a:extLst>
          </p:cNvPr>
          <p:cNvGrpSpPr/>
          <p:nvPr/>
        </p:nvGrpSpPr>
        <p:grpSpPr>
          <a:xfrm>
            <a:off x="4023374" y="1212000"/>
            <a:ext cx="2168394" cy="351641"/>
            <a:chOff x="-1" y="0"/>
            <a:chExt cx="1440003" cy="288002"/>
          </a:xfrm>
        </p:grpSpPr>
        <p:sp>
          <p:nvSpPr>
            <p:cNvPr id="56" name="Rounded Rectangle">
              <a:extLst>
                <a:ext uri="{FF2B5EF4-FFF2-40B4-BE49-F238E27FC236}">
                  <a16:creationId xmlns:a16="http://schemas.microsoft.com/office/drawing/2014/main" id="{E1468797-EF73-DE7B-BF8B-1BF31C2FAD8D}"/>
                </a:ext>
              </a:extLst>
            </p:cNvPr>
            <p:cNvSpPr/>
            <p:nvPr/>
          </p:nvSpPr>
          <p:spPr>
            <a:xfrm>
              <a:off x="-1" y="0"/>
              <a:ext cx="1440003" cy="288002"/>
            </a:xfrm>
            <a:prstGeom prst="roundRect">
              <a:avLst>
                <a:gd name="adj" fmla="val 50000"/>
              </a:avLst>
            </a:prstGeom>
            <a:solidFill>
              <a:srgbClr val="359D9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" name="Employees">
              <a:extLst>
                <a:ext uri="{FF2B5EF4-FFF2-40B4-BE49-F238E27FC236}">
                  <a16:creationId xmlns:a16="http://schemas.microsoft.com/office/drawing/2014/main" id="{FF54A708-99DA-C57F-1EE2-BCBD0EB659BB}"/>
                </a:ext>
              </a:extLst>
            </p:cNvPr>
            <p:cNvSpPr txBox="1"/>
            <p:nvPr/>
          </p:nvSpPr>
          <p:spPr>
            <a:xfrm>
              <a:off x="42175" y="68378"/>
              <a:ext cx="1355652" cy="151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pPr>
              <a:r>
                <a:rPr lang="en-US" sz="1200" dirty="0"/>
                <a:t>Engineers / Technicians</a:t>
              </a:r>
              <a:endParaRPr sz="1200" dirty="0"/>
            </a:p>
          </p:txBody>
        </p:sp>
      </p:grpSp>
      <p:grpSp>
        <p:nvGrpSpPr>
          <p:cNvPr id="58" name="Speech Bubble: Rectangle with Corners Rounded 91">
            <a:extLst>
              <a:ext uri="{FF2B5EF4-FFF2-40B4-BE49-F238E27FC236}">
                <a16:creationId xmlns:a16="http://schemas.microsoft.com/office/drawing/2014/main" id="{545F38E6-E130-3BC8-C277-AE8FE52B7F23}"/>
              </a:ext>
            </a:extLst>
          </p:cNvPr>
          <p:cNvGrpSpPr/>
          <p:nvPr/>
        </p:nvGrpSpPr>
        <p:grpSpPr>
          <a:xfrm>
            <a:off x="8536601" y="1212002"/>
            <a:ext cx="2168394" cy="351641"/>
            <a:chOff x="-1" y="0"/>
            <a:chExt cx="1440003" cy="288002"/>
          </a:xfrm>
        </p:grpSpPr>
        <p:sp>
          <p:nvSpPr>
            <p:cNvPr id="59" name="Rounded Rectangle">
              <a:extLst>
                <a:ext uri="{FF2B5EF4-FFF2-40B4-BE49-F238E27FC236}">
                  <a16:creationId xmlns:a16="http://schemas.microsoft.com/office/drawing/2014/main" id="{01CB8256-868A-CC3F-17EE-760CA1AA9313}"/>
                </a:ext>
              </a:extLst>
            </p:cNvPr>
            <p:cNvSpPr/>
            <p:nvPr/>
          </p:nvSpPr>
          <p:spPr>
            <a:xfrm>
              <a:off x="-1" y="0"/>
              <a:ext cx="1440003" cy="288002"/>
            </a:xfrm>
            <a:prstGeom prst="roundRect">
              <a:avLst>
                <a:gd name="adj" fmla="val 50000"/>
              </a:avLst>
            </a:prstGeom>
            <a:solidFill>
              <a:srgbClr val="359D9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0" name="Employees">
              <a:extLst>
                <a:ext uri="{FF2B5EF4-FFF2-40B4-BE49-F238E27FC236}">
                  <a16:creationId xmlns:a16="http://schemas.microsoft.com/office/drawing/2014/main" id="{8FF50E38-0E6B-E3ED-9B48-116C160EEDAE}"/>
                </a:ext>
              </a:extLst>
            </p:cNvPr>
            <p:cNvSpPr txBox="1"/>
            <p:nvPr/>
          </p:nvSpPr>
          <p:spPr>
            <a:xfrm>
              <a:off x="-1" y="68377"/>
              <a:ext cx="1355652" cy="151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pPr>
              <a:r>
                <a:rPr lang="en-US" sz="1200" dirty="0"/>
                <a:t>Leadership</a:t>
              </a:r>
              <a:endParaRPr sz="1200" dirty="0"/>
            </a:p>
          </p:txBody>
        </p:sp>
      </p:grpSp>
      <p:sp>
        <p:nvSpPr>
          <p:cNvPr id="61" name="Straight Connector 12">
            <a:extLst>
              <a:ext uri="{FF2B5EF4-FFF2-40B4-BE49-F238E27FC236}">
                <a16:creationId xmlns:a16="http://schemas.microsoft.com/office/drawing/2014/main" id="{CAA8A2EF-BCA1-8065-2C1B-6D237917594B}"/>
              </a:ext>
            </a:extLst>
          </p:cNvPr>
          <p:cNvSpPr/>
          <p:nvPr/>
        </p:nvSpPr>
        <p:spPr>
          <a:xfrm>
            <a:off x="360914" y="833584"/>
            <a:ext cx="430410" cy="2"/>
          </a:xfrm>
          <a:prstGeom prst="line">
            <a:avLst/>
          </a:prstGeom>
          <a:ln w="25400">
            <a:solidFill>
              <a:srgbClr val="FEDE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58654731-AD6F-C1DC-DCD9-04F8D7AB6F36}"/>
              </a:ext>
            </a:extLst>
          </p:cNvPr>
          <p:cNvSpPr txBox="1"/>
          <p:nvPr/>
        </p:nvSpPr>
        <p:spPr>
          <a:xfrm>
            <a:off x="360914" y="330322"/>
            <a:ext cx="9934554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>
                <a:solidFill>
                  <a:srgbClr val="0D0D0D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rPr lang="en-US" dirty="0"/>
              <a:t>End Uses, Engineers &amp; Management</a:t>
            </a:r>
            <a:endParaRPr dirty="0"/>
          </a:p>
        </p:txBody>
      </p:sp>
      <p:grpSp>
        <p:nvGrpSpPr>
          <p:cNvPr id="5" name="Rectangle: Rounded Corners 10">
            <a:extLst>
              <a:ext uri="{FF2B5EF4-FFF2-40B4-BE49-F238E27FC236}">
                <a16:creationId xmlns:a16="http://schemas.microsoft.com/office/drawing/2014/main" id="{B2F99D17-E1E0-5F93-6034-B1EAFE687754}"/>
              </a:ext>
            </a:extLst>
          </p:cNvPr>
          <p:cNvGrpSpPr/>
          <p:nvPr/>
        </p:nvGrpSpPr>
        <p:grpSpPr>
          <a:xfrm>
            <a:off x="5200108" y="2042279"/>
            <a:ext cx="1966151" cy="1008624"/>
            <a:chOff x="0" y="0"/>
            <a:chExt cx="2160003" cy="1152003"/>
          </a:xfrm>
          <a:solidFill>
            <a:srgbClr val="ED347A"/>
          </a:solidFill>
        </p:grpSpPr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02B3E028-9F66-5E51-C160-8F041B70F7FA}"/>
                </a:ext>
              </a:extLst>
            </p:cNvPr>
            <p:cNvSpPr/>
            <p:nvPr/>
          </p:nvSpPr>
          <p:spPr>
            <a:xfrm>
              <a:off x="0" y="0"/>
              <a:ext cx="2160003" cy="1152003"/>
            </a:xfrm>
            <a:prstGeom prst="roundRect">
              <a:avLst>
                <a:gd name="adj" fmla="val 12300"/>
              </a:avLst>
            </a:prstGeom>
            <a:grpFill/>
            <a:ln w="12700" cap="flat">
              <a:solidFill>
                <a:srgbClr val="FEDE00"/>
              </a:solidFill>
              <a:prstDash val="dash"/>
              <a:round/>
            </a:ln>
            <a:effectLst>
              <a:outerShdw blurRad="177800" rotWithShape="0">
                <a:srgbClr val="172B4D">
                  <a:alpha val="19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100"/>
            </a:p>
          </p:txBody>
        </p:sp>
        <p:sp>
          <p:nvSpPr>
            <p:cNvPr id="39" name="Agentic Sidekick Voice…">
              <a:extLst>
                <a:ext uri="{FF2B5EF4-FFF2-40B4-BE49-F238E27FC236}">
                  <a16:creationId xmlns:a16="http://schemas.microsoft.com/office/drawing/2014/main" id="{4A3B7470-1FC3-116D-32AA-C5520F048CBC}"/>
                </a:ext>
              </a:extLst>
            </p:cNvPr>
            <p:cNvSpPr txBox="1"/>
            <p:nvPr/>
          </p:nvSpPr>
          <p:spPr>
            <a:xfrm>
              <a:off x="93570" y="39923"/>
              <a:ext cx="1972863" cy="107215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endParaRPr lang="en-US" sz="1100" dirty="0"/>
            </a:p>
            <a:p>
              <a:pPr algn="ctr">
                <a:defRPr sz="1200">
                  <a:solidFill>
                    <a:srgbClr val="031F49"/>
                  </a:solidFill>
                  <a:latin typeface="Poppins Bold"/>
                  <a:ea typeface="Poppins Bold"/>
                  <a:cs typeface="Poppins Bold"/>
                  <a:sym typeface="Poppins Bold"/>
                </a:defRPr>
              </a:pPr>
              <a:r>
                <a:rPr lang="en-US" sz="1100" dirty="0"/>
                <a:t>AI Scoring</a:t>
              </a: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FFFFFF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endParaRPr sz="1100" dirty="0">
                <a:solidFill>
                  <a:srgbClr val="FFFFFF"/>
                </a:solidFill>
              </a:endParaRPr>
            </a:p>
            <a:p>
              <a:pPr algn="ctr">
                <a:defRPr sz="1200">
                  <a:solidFill>
                    <a:srgbClr val="262626"/>
                  </a:solidFill>
                  <a:latin typeface="Poppins Regular"/>
                  <a:ea typeface="Poppins Regular"/>
                  <a:cs typeface="Poppins Regular"/>
                  <a:sym typeface="Poppins Regular"/>
                </a:defRPr>
              </a:pPr>
              <a:r>
                <a:rPr lang="en-US" sz="1100" dirty="0"/>
                <a:t>Analytics gathered on each ticket / interaction</a:t>
              </a:r>
              <a:endParaRPr sz="1100" dirty="0"/>
            </a:p>
          </p:txBody>
        </p:sp>
      </p:grp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8F67FF2B-476F-62D5-7B2C-550A98654DD1}"/>
              </a:ext>
            </a:extLst>
          </p:cNvPr>
          <p:cNvCxnSpPr/>
          <p:nvPr/>
        </p:nvCxnSpPr>
        <p:spPr>
          <a:xfrm rot="16200000" flipH="1">
            <a:off x="7261658" y="838120"/>
            <a:ext cx="54965" cy="2464047"/>
          </a:xfrm>
          <a:prstGeom prst="bentConnector3">
            <a:avLst>
              <a:gd name="adj1" fmla="val -583550"/>
            </a:avLst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51D6D081-EEF9-0B7C-5EA5-D22394180F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2366" y="838063"/>
            <a:ext cx="54965" cy="2464047"/>
          </a:xfrm>
          <a:prstGeom prst="bentConnector3">
            <a:avLst>
              <a:gd name="adj1" fmla="val -583550"/>
            </a:avLst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AC640FD-FBA3-EABE-9BA6-76EDAC6089FC}"/>
              </a:ext>
            </a:extLst>
          </p:cNvPr>
          <p:cNvCxnSpPr/>
          <p:nvPr/>
        </p:nvCxnSpPr>
        <p:spPr>
          <a:xfrm>
            <a:off x="7402121" y="1729563"/>
            <a:ext cx="0" cy="2166879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C979A79-8E4D-52F8-00FD-9A9E0A79D258}"/>
              </a:ext>
            </a:extLst>
          </p:cNvPr>
          <p:cNvCxnSpPr/>
          <p:nvPr/>
        </p:nvCxnSpPr>
        <p:spPr>
          <a:xfrm>
            <a:off x="7402121" y="3896442"/>
            <a:ext cx="246231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C6BC007-0890-8312-AB5A-394163BC3133}"/>
              </a:ext>
            </a:extLst>
          </p:cNvPr>
          <p:cNvCxnSpPr/>
          <p:nvPr/>
        </p:nvCxnSpPr>
        <p:spPr>
          <a:xfrm>
            <a:off x="12098167" y="1737893"/>
            <a:ext cx="0" cy="2166879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D1BB839-5C2A-A770-DE1F-B42E4E500EB8}"/>
              </a:ext>
            </a:extLst>
          </p:cNvPr>
          <p:cNvCxnSpPr/>
          <p:nvPr/>
        </p:nvCxnSpPr>
        <p:spPr>
          <a:xfrm>
            <a:off x="10991872" y="1722475"/>
            <a:ext cx="1115068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EE0ED69-CF58-D267-65D5-0B7A0C66BA72}"/>
              </a:ext>
            </a:extLst>
          </p:cNvPr>
          <p:cNvCxnSpPr/>
          <p:nvPr/>
        </p:nvCxnSpPr>
        <p:spPr>
          <a:xfrm flipH="1">
            <a:off x="11922642" y="3911860"/>
            <a:ext cx="184298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582650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dvAuto="0"/>
      <p:bldP spid="55" grpId="0" animBg="1" advAuto="0"/>
      <p:bldP spid="58" grpId="0" animBg="1" advAuto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Ruck</dc:creator>
  <cp:lastModifiedBy>Matt Ruck</cp:lastModifiedBy>
  <cp:revision>1</cp:revision>
  <dcterms:created xsi:type="dcterms:W3CDTF">2026-02-07T19:10:32Z</dcterms:created>
  <dcterms:modified xsi:type="dcterms:W3CDTF">2026-02-07T19:11:13Z</dcterms:modified>
</cp:coreProperties>
</file>